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424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Volt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91408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Voice Agent SaaS Platform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498800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Machine Learning Project · Department of AI &amp; DS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060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Ayush Singh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(2410080023)  | 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Yashwant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(2410080018)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22411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Faculty: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Dr. P Harsha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 | 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Dr. Madhu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4260" y="825817"/>
            <a:ext cx="1548765" cy="391001"/>
          </a:xfrm>
          <a:prstGeom prst="roundRect">
            <a:avLst>
              <a:gd name="adj" fmla="val 6526"/>
            </a:avLst>
          </a:prstGeom>
          <a:solidFill>
            <a:srgbClr val="2A2C20"/>
          </a:solidFill>
          <a:ln/>
        </p:spPr>
      </p:sp>
      <p:sp>
        <p:nvSpPr>
          <p:cNvPr id="4" name="Text 1"/>
          <p:cNvSpPr/>
          <p:nvPr/>
        </p:nvSpPr>
        <p:spPr>
          <a:xfrm>
            <a:off x="871776" y="889516"/>
            <a:ext cx="1293733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4260" y="1296472"/>
            <a:ext cx="646938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an AI Voice Agent?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744260" y="2259925"/>
            <a:ext cx="7655481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AI Voice Agent is an intelligent system that uses </a:t>
            </a:r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speech recognition, natural language processing, and text-to-speech synthesis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conduct real-time, human-like conversations — automating customer interactions at scale.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4260" y="3472815"/>
            <a:ext cx="3728085" cy="2195393"/>
          </a:xfrm>
          <a:prstGeom prst="roundRect">
            <a:avLst>
              <a:gd name="adj" fmla="val 1453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956905" y="3685461"/>
            <a:ext cx="274153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Modern Business Need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56905" y="4137303"/>
            <a:ext cx="330279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expect instant, 24/7 support. Traditional call centers cannot scale to meet demand without significant cost.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671655" y="3472815"/>
            <a:ext cx="3728085" cy="2195393"/>
          </a:xfrm>
          <a:prstGeom prst="roundRect">
            <a:avLst>
              <a:gd name="adj" fmla="val 1453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4884301" y="368546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Gap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4884301" y="4137303"/>
            <a:ext cx="330279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Legacy systems rely on manual handling — slow, expensive, and prone to errors during peak hours.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4260" y="5867519"/>
            <a:ext cx="7655481" cy="1536263"/>
          </a:xfrm>
          <a:prstGeom prst="roundRect">
            <a:avLst>
              <a:gd name="adj" fmla="val 2076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956905" y="6080165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Opportunity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956905" y="6532007"/>
            <a:ext cx="72301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AI voice automation bridges the gap, delivering consistent, intelligent, and scalable customer engagement.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538520"/>
            <a:ext cx="1864757" cy="355759"/>
          </a:xfrm>
          <a:prstGeom prst="roundRect">
            <a:avLst>
              <a:gd name="adj" fmla="val 6456"/>
            </a:avLst>
          </a:prstGeom>
          <a:noFill/>
          <a:ln w="7620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4747" y="603528"/>
            <a:ext cx="1619964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2351" y="958810"/>
            <a:ext cx="836092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Cost of Manual Customer Support</a:t>
            </a:r>
            <a:endParaRPr lang="en-US" sz="3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51" y="2359343"/>
            <a:ext cx="8420100" cy="47713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07034" y="1980605"/>
            <a:ext cx="4318397" cy="1735336"/>
          </a:xfrm>
          <a:prstGeom prst="roundRect">
            <a:avLst>
              <a:gd name="adj" fmla="val 632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84174" y="1980605"/>
            <a:ext cx="91440" cy="1735336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8" name="Text 5"/>
          <p:cNvSpPr/>
          <p:nvPr/>
        </p:nvSpPr>
        <p:spPr>
          <a:xfrm>
            <a:off x="9889808" y="219479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Manual Handling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889808" y="2655213"/>
            <a:ext cx="382143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Human agents are slow, inconsistent, and limited by working hours — leading to long wait times and customer churn.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07034" y="3877389"/>
            <a:ext cx="4318397" cy="1735336"/>
          </a:xfrm>
          <a:prstGeom prst="roundRect">
            <a:avLst>
              <a:gd name="adj" fmla="val 632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84174" y="3877389"/>
            <a:ext cx="91440" cy="1735336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12" name="Text 9"/>
          <p:cNvSpPr/>
          <p:nvPr/>
        </p:nvSpPr>
        <p:spPr>
          <a:xfrm>
            <a:off x="9889808" y="4091583"/>
            <a:ext cx="2452688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Operational Cost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889808" y="4551998"/>
            <a:ext cx="382143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Staffing, training, and infrastructure for traditional call centers consume significant budgets with limited ROI.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07034" y="5774174"/>
            <a:ext cx="4318397" cy="1735336"/>
          </a:xfrm>
          <a:prstGeom prst="roundRect">
            <a:avLst>
              <a:gd name="adj" fmla="val 632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84174" y="5774174"/>
            <a:ext cx="91440" cy="1735336"/>
          </a:xfrm>
          <a:prstGeom prst="roundRect">
            <a:avLst>
              <a:gd name="adj" fmla="val 31395"/>
            </a:avLst>
          </a:prstGeom>
          <a:solidFill>
            <a:srgbClr val="9FA582"/>
          </a:solidFill>
          <a:ln/>
        </p:spPr>
      </p:sp>
      <p:sp>
        <p:nvSpPr>
          <p:cNvPr id="16" name="Text 13"/>
          <p:cNvSpPr/>
          <p:nvPr/>
        </p:nvSpPr>
        <p:spPr>
          <a:xfrm>
            <a:off x="9889808" y="598836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 Scalability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889808" y="6448782"/>
            <a:ext cx="382143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Surge in query volume overwhelms teams. Businesses lack an elastic, on-demand support layer.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01735"/>
            <a:ext cx="2167890" cy="426244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69720"/>
            <a:ext cx="1895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187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Introducing Volt AI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676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Volt AI is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SaaS-based, AI-powered voice assistant platform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designed to automate customer conversations in real time — combining machine learning with cloud-native scalability.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4048601"/>
            <a:ext cx="453628" cy="453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785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Voice Assistant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27613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Understands and responds to natural speech using STT, NLP, and TTS in a seamless pipeline.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4048601"/>
            <a:ext cx="453628" cy="453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4785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SaaS Platform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527613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Multi-tenant, cloud-hosted architecture enabling rapid onboarding and elastic scaling for any business size.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4048601"/>
            <a:ext cx="453628" cy="4536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4785717"/>
            <a:ext cx="34566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Communication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527613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Sub-second latency response engine powered by FastAPI and optimized inference pipelines.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497443"/>
            <a:ext cx="1811655" cy="315516"/>
          </a:xfrm>
          <a:prstGeom prst="roundRect">
            <a:avLst>
              <a:gd name="adj" fmla="val 6605"/>
            </a:avLst>
          </a:prstGeom>
          <a:noFill/>
          <a:ln w="7620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57093"/>
            <a:ext cx="1588056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66061"/>
            <a:ext cx="6442591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Technology Stack &amp; Architecture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737" y="1608177"/>
            <a:ext cx="11982807" cy="5483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01205" y="2451228"/>
            <a:ext cx="2650732" cy="33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Backend API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101205" y="2876818"/>
            <a:ext cx="2921696" cy="23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FastAPI REST services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42424" y="4136836"/>
            <a:ext cx="2650732" cy="33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Database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607081" y="4562426"/>
            <a:ext cx="2686075" cy="46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MongoDB document storage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101205" y="5184427"/>
            <a:ext cx="2650732" cy="33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Engine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0101205" y="5610017"/>
            <a:ext cx="2921696" cy="23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STT, NLP, and TTS processing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23737" y="7241619"/>
            <a:ext cx="1198280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Volt AI uses a clean </a:t>
            </a:r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REST API-driven architecture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separating concerns across layers — React + Vite for a responsive frontend, FastAPI for high-performance backend logic, MongoDB for flexible document storage, and an integrated AI engine for voice and language processing.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0548" y="472202"/>
            <a:ext cx="1119307" cy="276820"/>
          </a:xfrm>
          <a:prstGeom prst="roundRect">
            <a:avLst>
              <a:gd name="adj" fmla="val 7067"/>
            </a:avLst>
          </a:prstGeom>
          <a:solidFill>
            <a:srgbClr val="2A2C20"/>
          </a:solidFill>
          <a:ln/>
        </p:spPr>
      </p:sp>
      <p:sp>
        <p:nvSpPr>
          <p:cNvPr id="4" name="Text 1"/>
          <p:cNvSpPr/>
          <p:nvPr/>
        </p:nvSpPr>
        <p:spPr>
          <a:xfrm>
            <a:off x="668298" y="521017"/>
            <a:ext cx="923806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0548" y="795814"/>
            <a:ext cx="4075748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Volt AI Delivers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70548" y="1480899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3B3C3E"/>
          </a:solidFill>
          <a:ln/>
        </p:spPr>
      </p:sp>
      <p:sp>
        <p:nvSpPr>
          <p:cNvPr id="7" name="Shape 4"/>
          <p:cNvSpPr/>
          <p:nvPr/>
        </p:nvSpPr>
        <p:spPr>
          <a:xfrm>
            <a:off x="733544" y="1643896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9FA5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7966" y="1778318"/>
            <a:ext cx="220028" cy="2200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3544" y="2250043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Voice Interaction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3544" y="2575084"/>
            <a:ext cx="767691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End-to-end STT → NLP → TTS pipeline for natural, human-like voice conversations.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70548" y="3079313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3B3C3E"/>
          </a:solidFill>
          <a:ln/>
        </p:spPr>
      </p:sp>
      <p:sp>
        <p:nvSpPr>
          <p:cNvPr id="12" name="Shape 8"/>
          <p:cNvSpPr/>
          <p:nvPr/>
        </p:nvSpPr>
        <p:spPr>
          <a:xfrm>
            <a:off x="733544" y="3242310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9FA5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966" y="3376732"/>
            <a:ext cx="220028" cy="2200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3544" y="3848457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NLP Understanding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3544" y="4173498"/>
            <a:ext cx="767691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Intent recognition and entity extraction for accurate, context-aware responses.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70548" y="4677728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3B3C3E"/>
          </a:solidFill>
          <a:ln/>
        </p:spPr>
      </p:sp>
      <p:sp>
        <p:nvSpPr>
          <p:cNvPr id="17" name="Shape 12"/>
          <p:cNvSpPr/>
          <p:nvPr/>
        </p:nvSpPr>
        <p:spPr>
          <a:xfrm>
            <a:off x="733544" y="4840724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9FA5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7966" y="4975146"/>
            <a:ext cx="220028" cy="2200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3544" y="5446871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Secure Access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33544" y="5771912"/>
            <a:ext cx="767691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OAuth 2.0 authentication with Two-Factor Authentication (2FA) for enterprise-grade security.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70548" y="6276142"/>
            <a:ext cx="8002905" cy="1481257"/>
          </a:xfrm>
          <a:prstGeom prst="roundRect">
            <a:avLst>
              <a:gd name="adj" fmla="val 1651"/>
            </a:avLst>
          </a:prstGeom>
          <a:solidFill>
            <a:srgbClr val="3B3C3E"/>
          </a:solidFill>
          <a:ln/>
        </p:spPr>
      </p:sp>
      <p:sp>
        <p:nvSpPr>
          <p:cNvPr id="22" name="Shape 16"/>
          <p:cNvSpPr/>
          <p:nvPr/>
        </p:nvSpPr>
        <p:spPr>
          <a:xfrm>
            <a:off x="733544" y="6439138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9FA5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7966" y="6573560"/>
            <a:ext cx="220028" cy="2200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3544" y="7045285"/>
            <a:ext cx="2129909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Dashboard &amp; Analytics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33544" y="7370326"/>
            <a:ext cx="767691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metrics on call volume, resolution rates, sentiment, and agent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183" y="522208"/>
            <a:ext cx="1375767" cy="331470"/>
          </a:xfrm>
          <a:prstGeom prst="roundRect">
            <a:avLst>
              <a:gd name="adj" fmla="val 6544"/>
            </a:avLst>
          </a:prstGeom>
          <a:noFill/>
          <a:ln w="7620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95149" y="584002"/>
            <a:ext cx="114383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WORKING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79183" y="911185"/>
            <a:ext cx="7773114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Volt AI Processes a Conversation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618" y="1691878"/>
            <a:ext cx="12369046" cy="53338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2862" y="6014256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Backend &amp; TTS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962862" y="4779548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NLP Processing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62862" y="3557313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Speech-to-Text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962862" y="2322605"/>
            <a:ext cx="2806153" cy="35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Speaks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79183" y="7187684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entire pipeline operates in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 time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delivering intelligent voice responses with minimal latency — creating a seamless, natural conversation experience for end users.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46121"/>
            <a:ext cx="1326356" cy="426244"/>
          </a:xfrm>
          <a:prstGeom prst="roundRect">
            <a:avLst>
              <a:gd name="adj" fmla="val 6386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414105"/>
            <a:ext cx="10541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UI SCREENS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630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Platform Interface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120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Volt AI features a clean, modern interface designed for both end users and administrators.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530084"/>
            <a:ext cx="2411968" cy="14906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304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Login Page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79465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Secure OAuth 2.0 login with 2FA support, clean dark theme, and minimal friction onboarding.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530084"/>
            <a:ext cx="2411968" cy="14906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5304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579465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Centralized control panel with real-time call analytics, agent performance, and usage insights.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530084"/>
            <a:ext cx="2411968" cy="14906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5304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AI Assistant Screen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579465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voice interaction interface with visual waveform feedback, conversation history, and intent display.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0065"/>
            <a:ext cx="2254806" cy="315516"/>
          </a:xfrm>
          <a:prstGeom prst="roundRect">
            <a:avLst>
              <a:gd name="adj" fmla="val 6605"/>
            </a:avLst>
          </a:prstGeom>
          <a:noFill/>
          <a:ln w="7620">
            <a:solidFill>
              <a:srgbClr val="9FA5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35537" y="579715"/>
            <a:ext cx="2031206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APPLICATIONS &amp; ADVANTAGES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8682"/>
            <a:ext cx="618946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Where Volt AI Makes an Impact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737" y="178034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737" y="178034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299358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Core Advantages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9640" y="3422868"/>
            <a:ext cx="260390" cy="2603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8750" y="3414355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Scalable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Handles thousands of concurrent voice sessions without performance degradation.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9640" y="4218206"/>
            <a:ext cx="260390" cy="2603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98750" y="4209693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Cost-Efficient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Reduces operational costs by automating up to 80% of routine queries.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9640" y="5013543"/>
            <a:ext cx="260390" cy="2603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98750" y="5005030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24/7 Availability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No downtime, no shifts — always on, always responsive.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9640" y="5808881"/>
            <a:ext cx="260390" cy="26039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098750" y="5800368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Fast Response</a:t>
            </a:r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Sub-second latency ensures natural, fluid conversation flow.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993" y="623292"/>
            <a:ext cx="1298019" cy="365522"/>
          </a:xfrm>
          <a:prstGeom prst="roundRect">
            <a:avLst>
              <a:gd name="adj" fmla="val 6632"/>
            </a:avLst>
          </a:prstGeom>
          <a:solidFill>
            <a:srgbClr val="2A2C20"/>
          </a:solidFill>
          <a:ln/>
        </p:spPr>
      </p:sp>
      <p:sp>
        <p:nvSpPr>
          <p:cNvPr id="3" name="Text 1"/>
          <p:cNvSpPr/>
          <p:nvPr/>
        </p:nvSpPr>
        <p:spPr>
          <a:xfrm>
            <a:off x="828199" y="683895"/>
            <a:ext cx="1055608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6993" y="1060728"/>
            <a:ext cx="9001720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Limitations, Future Scope &amp; Takeaways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706993" y="21416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Current Limitations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06993" y="2659737"/>
            <a:ext cx="3090862" cy="1366123"/>
          </a:xfrm>
          <a:prstGeom prst="roundRect">
            <a:avLst>
              <a:gd name="adj" fmla="val 2218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1783" y="2884527"/>
            <a:ext cx="2641283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Requires substantial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training data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domain-specific accuracy.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977759" y="2659737"/>
            <a:ext cx="3090982" cy="1366123"/>
          </a:xfrm>
          <a:prstGeom prst="roundRect">
            <a:avLst>
              <a:gd name="adj" fmla="val 2218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2549" y="2884527"/>
            <a:ext cx="2641402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Multilingual support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needs expansion beyond current language coverage.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6993" y="4205764"/>
            <a:ext cx="6361748" cy="755094"/>
          </a:xfrm>
          <a:prstGeom prst="roundRect">
            <a:avLst>
              <a:gd name="adj" fmla="val 401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1783" y="4430554"/>
            <a:ext cx="591216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LLM integration is pending for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advanced conversational depth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23785" y="1961793"/>
            <a:ext cx="6652736" cy="4337804"/>
          </a:xfrm>
          <a:prstGeom prst="roundRect">
            <a:avLst>
              <a:gd name="adj" fmla="val 699"/>
            </a:avLst>
          </a:prstGeom>
          <a:solidFill>
            <a:srgbClr val="1F2D1B"/>
          </a:solidFill>
          <a:ln/>
        </p:spPr>
      </p:sp>
      <p:sp>
        <p:nvSpPr>
          <p:cNvPr id="13" name="Text 11"/>
          <p:cNvSpPr/>
          <p:nvPr/>
        </p:nvSpPr>
        <p:spPr>
          <a:xfrm>
            <a:off x="7625715" y="21416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Roadmap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5715" y="2659737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625715" y="2980134"/>
            <a:ext cx="6248876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7625715" y="3126819"/>
            <a:ext cx="624887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Integrate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Large Language Models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(LLMs) for richer context handling.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25715" y="4069199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625715" y="4389596"/>
            <a:ext cx="6248876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9" name="Text 17"/>
          <p:cNvSpPr/>
          <p:nvPr/>
        </p:nvSpPr>
        <p:spPr>
          <a:xfrm>
            <a:off x="7625715" y="4536281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Expand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multilingual and regional dialect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recognition capabilities.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625715" y="5173147"/>
            <a:ext cx="40397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625715" y="5493544"/>
            <a:ext cx="6248876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7625715" y="5640229"/>
            <a:ext cx="624887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Add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emotion &amp; sentiment detection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adaptive responses.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06993" y="6502003"/>
            <a:ext cx="13216414" cy="1104305"/>
          </a:xfrm>
          <a:prstGeom prst="roundRect">
            <a:avLst>
              <a:gd name="adj" fmla="val 2744"/>
            </a:avLst>
          </a:prstGeom>
          <a:solidFill>
            <a:srgbClr val="183A13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23" y="6798707"/>
            <a:ext cx="252413" cy="20193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63266" y="6732389"/>
            <a:ext cx="12358211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Volt AI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transforms customer interaction by combining ML-powered voice intelligence with a scalable SaaS architecture — a future-ready solution for modern enterprises.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2026-04-14T06:47:52Z</dcterms:created>
  <dcterms:modified xsi:type="dcterms:W3CDTF">2026-04-14T06:47:52Z</dcterms:modified>
</cp:coreProperties>
</file>